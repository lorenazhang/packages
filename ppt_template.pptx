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713232" cy="713232"/>
          </a:xfrm>
          <a:prstGeom prst="rect">
            <a:avLst/>
          </a:prstGeom>
          <a:solidFill>
            <a:srgbClr val="9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1051560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3800" b="0">
                <a:solidFill>
                  <a:srgbClr val="2D2D2D"/>
                </a:solidFill>
                <a:latin typeface="Aptos"/>
              </a:defRPr>
            </a:pPr>
            <a:r>
              <a:t>RCA Signal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3063240"/>
            <a:ext cx="978408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900" b="0">
                <a:solidFill>
                  <a:srgbClr val="91262D"/>
                </a:solidFill>
                <a:latin typeface="Aptos"/>
              </a:defRPr>
            </a:pPr>
            <a:r>
              <a:t>Early Detection Through Multiple Customer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3977639"/>
            <a:ext cx="1691640" cy="32004"/>
          </a:xfrm>
          <a:prstGeom prst="rect">
            <a:avLst/>
          </a:prstGeom>
          <a:solidFill>
            <a:srgbClr val="AE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4297680"/>
            <a:ext cx="36576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00" b="0">
                <a:solidFill>
                  <a:srgbClr val="706965"/>
                </a:solidFill>
                <a:latin typeface="Aptos"/>
              </a:defRPr>
            </a:pPr>
            <a:r>
              <a:t>RCA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9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Aptos"/>
              </a:defRPr>
            </a:pPr>
            <a:r>
              <a:t>RCA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14400"/>
            <a:ext cx="822960" cy="41148"/>
          </a:xfrm>
          <a:prstGeom prst="rect">
            <a:avLst/>
          </a:prstGeom>
          <a:solidFill>
            <a:srgbClr val="9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50" b="0">
                <a:solidFill>
                  <a:srgbClr val="706965"/>
                </a:solidFill>
                <a:latin typeface="Aptos"/>
              </a:defRPr>
            </a:pPr>
            <a:r>
              <a:t>A multi-signal framework for proactive issue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0">
                <a:solidFill>
                  <a:srgbClr val="70696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3657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00" b="1">
                <a:solidFill>
                  <a:srgbClr val="91262D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50" b="0">
                <a:solidFill>
                  <a:srgbClr val="3A3A3A"/>
                </a:solidFill>
                <a:latin typeface="Aptos"/>
              </a:defRPr>
            </a:pPr>
            <a:r>
              <a:t>Develop a multi-signal detection framework to proactively identify emerging customer issues before they develop into broader concerns.</a:t>
            </a:r>
            <a:br/>
            <a:r>
              <a:t>Combine multiple independent signals to provide stronger evidence for further investigation.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907792"/>
            <a:ext cx="3657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00" b="1">
                <a:solidFill>
                  <a:srgbClr val="91262D"/>
                </a:solidFill>
                <a:latin typeface="Aptos"/>
              </a:defRPr>
            </a:pPr>
            <a:r>
              <a:t>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355848"/>
            <a:ext cx="257860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0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493008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300" b="1">
                <a:solidFill>
                  <a:srgbClr val="91262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822191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50" b="1">
                <a:solidFill>
                  <a:srgbClr val="2D2D2D"/>
                </a:solidFill>
                <a:latin typeface="Aptos"/>
              </a:defRPr>
            </a:pPr>
            <a:r>
              <a:t>Customer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224528"/>
            <a:ext cx="2240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120" b="0">
                <a:solidFill>
                  <a:srgbClr val="3A3A3A"/>
                </a:solidFill>
                <a:latin typeface="Aptos"/>
              </a:defRPr>
            </a:pPr>
            <a:r>
              <a:t>Derive multiple signals from customer interactions.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3355848"/>
            <a:ext cx="257860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0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3493008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300" b="1">
                <a:solidFill>
                  <a:srgbClr val="91262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822191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50" b="1">
                <a:solidFill>
                  <a:srgbClr val="2D2D2D"/>
                </a:solidFill>
                <a:latin typeface="Aptos"/>
              </a:defRPr>
            </a:pPr>
            <a:r>
              <a:t>Historical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4224528"/>
            <a:ext cx="2240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120" b="0">
                <a:solidFill>
                  <a:srgbClr val="3A3A3A"/>
                </a:solidFill>
                <a:latin typeface="Aptos"/>
              </a:defRPr>
            </a:pPr>
            <a:r>
              <a:t>Establish a 13-month baseline for each signal.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55848"/>
            <a:ext cx="257860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0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493008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300" b="1">
                <a:solidFill>
                  <a:srgbClr val="91262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22191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50" b="1">
                <a:solidFill>
                  <a:srgbClr val="2D2D2D"/>
                </a:solidFill>
                <a:latin typeface="Aptos"/>
              </a:defRPr>
            </a:pPr>
            <a:r>
              <a:t>Outlier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24528"/>
            <a:ext cx="2240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120" b="0">
                <a:solidFill>
                  <a:srgbClr val="3A3A3A"/>
                </a:solidFill>
                <a:latin typeface="Aptos"/>
              </a:defRPr>
            </a:pPr>
            <a:r>
              <a:t>Identify unusual and sustained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0848" y="3355848"/>
            <a:ext cx="257860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0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3493008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300" b="1">
                <a:solidFill>
                  <a:srgbClr val="91262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3822191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50" b="1">
                <a:solidFill>
                  <a:srgbClr val="2D2D2D"/>
                </a:solidFill>
                <a:latin typeface="Aptos"/>
              </a:defRPr>
            </a:pPr>
            <a:r>
              <a:t>LLM Topic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4224528"/>
            <a:ext cx="2240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120" b="0">
                <a:solidFill>
                  <a:srgbClr val="3A3A3A"/>
                </a:solidFill>
                <a:latin typeface="Aptos"/>
              </a:defRPr>
            </a:pPr>
            <a:r>
              <a:t>Identify detailed topics and themes for investigation.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577840"/>
            <a:ext cx="107899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Aptos"/>
              </a:defRPr>
            </a:pPr>
            <a:r>
              <a:t>Multiple signals provide stronger evidence for investigation than any single indicator.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9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Aptos"/>
              </a:defRPr>
            </a:pPr>
            <a:r>
              <a:t>Key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14400"/>
            <a:ext cx="822960" cy="41148"/>
          </a:xfrm>
          <a:prstGeom prst="rect">
            <a:avLst/>
          </a:prstGeom>
          <a:solidFill>
            <a:srgbClr val="9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50" b="0">
                <a:solidFill>
                  <a:srgbClr val="706965"/>
                </a:solidFill>
                <a:latin typeface="Aptos"/>
              </a:defRPr>
            </a:pPr>
            <a:r>
              <a:t>Three complementary views of customer friction and emerging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0">
                <a:solidFill>
                  <a:srgbClr val="70696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50" b="1">
                <a:solidFill>
                  <a:srgbClr val="2D2D2D"/>
                </a:solidFill>
                <a:latin typeface="Aptos"/>
              </a:defRPr>
            </a:pPr>
            <a:r>
              <a:t>01  Call-to-Complaint Conversion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017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170" b="0">
                <a:solidFill>
                  <a:srgbClr val="3A3A3A"/>
                </a:solidFill>
                <a:latin typeface="Aptos"/>
              </a:defRPr>
            </a:pPr>
            <a:r>
              <a:t>Measures how frequently calls result in complaints; tracks overall, service, and escalated complaint counts and conversion rates.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57400"/>
            <a:ext cx="10835640" cy="896112"/>
          </a:xfrm>
          <a:prstGeom prst="rect">
            <a:avLst/>
          </a:prstGeom>
          <a:solidFill>
            <a:srgbClr val="FFFFFF"/>
          </a:solidFill>
          <a:ln>
            <a:solidFill>
              <a:srgbClr val="E0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version_data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30552"/>
            <a:ext cx="10680192" cy="749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21868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50" b="1">
                <a:solidFill>
                  <a:srgbClr val="2D2D2D"/>
                </a:solidFill>
                <a:latin typeface="Aptos"/>
              </a:defRPr>
            </a:pPr>
            <a:r>
              <a:t>02  Recontact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38728"/>
            <a:ext cx="10789920" cy="3017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170" b="0">
                <a:solidFill>
                  <a:srgbClr val="3A3A3A"/>
                </a:solidFill>
                <a:latin typeface="Aptos"/>
              </a:defRPr>
            </a:pPr>
            <a:r>
              <a:t>Measures repeat contacts following an initial interaction.  Recontact Rate = Recontact Calls / Total Calls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886200"/>
            <a:ext cx="56692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0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ontact_data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50208"/>
            <a:ext cx="5504688" cy="731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5010912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50" b="1">
                <a:solidFill>
                  <a:srgbClr val="2D2D2D"/>
                </a:solidFill>
                <a:latin typeface="Aptos"/>
              </a:defRPr>
            </a:pPr>
            <a:r>
              <a:t>03  Social 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30952"/>
            <a:ext cx="1074420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170" b="0">
                <a:solidFill>
                  <a:srgbClr val="3A3A3A"/>
                </a:solidFill>
                <a:latin typeface="Aptos"/>
              </a:defRPr>
            </a:pPr>
            <a:r>
              <a:t>Sprinklr data across X, Facebook, Instagram, TikTok and Bluesky. Highly noisy and subjective, with limited actionable issue information; best suited as a corroborating signal rather than a standalone signal.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9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Aptos"/>
              </a:defRPr>
            </a:pPr>
            <a:r>
              <a:t>Outlier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14400"/>
            <a:ext cx="822960" cy="41148"/>
          </a:xfrm>
          <a:prstGeom prst="rect">
            <a:avLst/>
          </a:prstGeom>
          <a:solidFill>
            <a:srgbClr val="9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50" b="0">
                <a:solidFill>
                  <a:srgbClr val="706965"/>
                </a:solidFill>
                <a:latin typeface="Aptos"/>
              </a:defRPr>
            </a:pPr>
            <a:r>
              <a:t>Establish a 13-month baseline for each signal and compare current performance against historical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0">
                <a:solidFill>
                  <a:srgbClr val="70696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0292" cy="1143000"/>
          </a:xfrm>
          <a:prstGeom prst="rect">
            <a:avLst/>
          </a:prstGeom>
          <a:solidFill>
            <a:srgbClr val="9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45919"/>
            <a:ext cx="4937759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Aptos"/>
              </a:defRPr>
            </a:pPr>
            <a:r>
              <a:t>01  Z-Score · Point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4919472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20" b="0">
                <a:solidFill>
                  <a:srgbClr val="3A3A3A"/>
                </a:solidFill>
                <a:latin typeface="Aptos"/>
              </a:defRPr>
            </a:pPr>
            <a:r>
              <a:t>Compares current conversion rate with historical mean and variability.</a:t>
            </a:r>
            <a:br/>
            <a:r>
              <a:t>Useful for detecting sudden spikes or abrupt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0292" cy="1143000"/>
          </a:xfrm>
          <a:prstGeom prst="rect">
            <a:avLst/>
          </a:prstGeom>
          <a:solidFill>
            <a:srgbClr val="AE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45919"/>
            <a:ext cx="4937759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Aptos"/>
              </a:defRPr>
            </a:pPr>
            <a:r>
              <a:t>02  Upward Trend · Sustained Change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57400"/>
            <a:ext cx="4919472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20" b="0">
                <a:solidFill>
                  <a:srgbClr val="3A3A3A"/>
                </a:solidFill>
                <a:latin typeface="Aptos"/>
              </a:defRPr>
            </a:pPr>
            <a:r>
              <a:t>Evaluates whether rates show a consistent upward pattern.</a:t>
            </a:r>
            <a:br/>
            <a:r>
              <a:t>Complements Z-score by identifying gradual but persistent increases.</a:t>
            </a:r>
          </a:p>
        </p:txBody>
      </p:sp>
      <p:pic>
        <p:nvPicPr>
          <p:cNvPr id="15" name="Picture 14" descr="zscore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5212080" cy="2578608"/>
          </a:xfrm>
          <a:prstGeom prst="rect">
            <a:avLst/>
          </a:prstGeom>
        </p:spPr>
      </p:pic>
      <p:pic>
        <p:nvPicPr>
          <p:cNvPr id="16" name="Picture 15" descr="trend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926080"/>
            <a:ext cx="5212080" cy="2578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5779008"/>
            <a:ext cx="106984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250" b="1">
                <a:solidFill>
                  <a:srgbClr val="2D2D2D"/>
                </a:solidFill>
                <a:latin typeface="Aptos"/>
              </a:defRPr>
            </a:pPr>
            <a:r>
              <a:t>Z-score: Is the current rate unusual?     |     Trend: Is the issue consistently worsening?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9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Aptos"/>
              </a:defRPr>
            </a:pPr>
            <a:r>
              <a:t>Data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14400"/>
            <a:ext cx="822960" cy="41148"/>
          </a:xfrm>
          <a:prstGeom prst="rect">
            <a:avLst/>
          </a:prstGeom>
          <a:solidFill>
            <a:srgbClr val="9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50" b="0">
                <a:solidFill>
                  <a:srgbClr val="706965"/>
                </a:solidFill>
                <a:latin typeface="Aptos"/>
              </a:defRPr>
            </a:pPr>
            <a:r>
              <a:t>Key considerations for consistent measurement across 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0">
                <a:solidFill>
                  <a:srgbClr val="70696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88136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50292" cy="1481328"/>
          </a:xfrm>
          <a:prstGeom prst="rect">
            <a:avLst/>
          </a:prstGeom>
          <a:solidFill>
            <a:srgbClr val="9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105156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Aptos"/>
              </a:defRPr>
            </a:pPr>
            <a:r>
              <a:t>01  LOB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10497312" cy="8595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Aptos"/>
              </a:defRPr>
            </a:pPr>
            <a:r>
              <a:t>Call and complaint data use different business taxonomies.</a:t>
            </a:r>
            <a:br/>
            <a:r>
              <a:t>Call-side Virtual Queues require mapping to standardized LOB / Sub-LOB classifications.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01568"/>
            <a:ext cx="10881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01568"/>
            <a:ext cx="50292" cy="1828800"/>
          </a:xfrm>
          <a:prstGeom prst="rect">
            <a:avLst/>
          </a:prstGeom>
          <a:solidFill>
            <a:srgbClr val="AE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538728"/>
            <a:ext cx="105156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Aptos"/>
              </a:defRPr>
            </a:pPr>
            <a:r>
              <a:t>02  Interaction ID Standardization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950208"/>
            <a:ext cx="10497312" cy="12070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Aptos"/>
              </a:defRPr>
            </a:pPr>
            <a:r>
              <a:t>Interaction identifiers changed during migration from the legacy call platform to the new system.</a:t>
            </a:r>
            <a:br/>
            <a:r>
              <a:t>Historical calls primarily use CONNID, while newer interactions may use Global ID.</a:t>
            </a:r>
            <a:br/>
            <a:r>
              <a:t>A hierarchical matching approach maintains consistent historical coverage across the migration period.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650992"/>
            <a:ext cx="107899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Aptos"/>
              </a:defRPr>
            </a:pPr>
            <a:r>
              <a:t>Impact: consistent historical baselines and more reliable cross-signal comparisons.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